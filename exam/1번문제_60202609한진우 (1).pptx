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616" autoAdjust="0"/>
  </p:normalViewPr>
  <p:slideViewPr>
    <p:cSldViewPr snapToGrid="0" snapToObjects="1">
      <p:cViewPr varScale="1">
        <p:scale>
          <a:sx n="148" d="100"/>
          <a:sy n="148" d="100"/>
        </p:scale>
        <p:origin x="87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86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향상된 표현력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GATv2</a:t>
            </a:r>
            <a:r>
              <a:rPr lang="ko-KR" altLang="en-US" dirty="0"/>
              <a:t>는 </a:t>
            </a:r>
            <a:r>
              <a:rPr lang="en-US" altLang="ko-KR" dirty="0"/>
              <a:t>GAT</a:t>
            </a:r>
            <a:r>
              <a:rPr lang="ko-KR" altLang="en-US" dirty="0"/>
              <a:t>보다 더 다양한 종류의 노드 간 상호작용 패턴을 포착할 수 있습니다</a:t>
            </a:r>
            <a:r>
              <a:rPr lang="en-US" altLang="ko-KR" dirty="0"/>
              <a:t>. GAT</a:t>
            </a:r>
            <a:r>
              <a:rPr lang="ko-KR" altLang="en-US" dirty="0"/>
              <a:t>의 정적인 </a:t>
            </a:r>
            <a:r>
              <a:rPr lang="ko-KR" altLang="en-US" dirty="0" err="1"/>
              <a:t>어텐션</a:t>
            </a:r>
            <a:r>
              <a:rPr lang="ko-KR" altLang="en-US" dirty="0"/>
              <a:t> 계산 방식은 특정 종류의 그래프 구조나 데이터 패턴을 학습하는 데 한계가 있을 수 있습니다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이론적 우수성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GATv2</a:t>
            </a:r>
            <a:r>
              <a:rPr lang="ko-KR" altLang="en-US" dirty="0"/>
              <a:t>는 그래프 상의 </a:t>
            </a:r>
            <a:r>
              <a:rPr lang="ko-KR" altLang="en-US" dirty="0" err="1"/>
              <a:t>어텐션</a:t>
            </a:r>
            <a:r>
              <a:rPr lang="ko-KR" altLang="en-US" dirty="0"/>
              <a:t> 메커니즘에 대한 </a:t>
            </a:r>
            <a:r>
              <a:rPr lang="en-US" altLang="ko-KR" dirty="0"/>
              <a:t>"</a:t>
            </a:r>
            <a:r>
              <a:rPr lang="ko-KR" altLang="en-US" dirty="0"/>
              <a:t>보편적 </a:t>
            </a:r>
            <a:r>
              <a:rPr lang="ko-KR" altLang="en-US" dirty="0" err="1"/>
              <a:t>근사자</a:t>
            </a:r>
            <a:r>
              <a:rPr lang="en-US" altLang="ko-KR" dirty="0"/>
              <a:t>(Universal Approximator)"</a:t>
            </a:r>
            <a:r>
              <a:rPr lang="ko-KR" altLang="en-US" dirty="0"/>
              <a:t>임이 증명되었습니다</a:t>
            </a:r>
            <a:r>
              <a:rPr lang="en-US" altLang="ko-KR" dirty="0"/>
              <a:t>. </a:t>
            </a:r>
            <a:r>
              <a:rPr lang="ko-KR" altLang="en-US" dirty="0"/>
              <a:t>이는 이론적으로 </a:t>
            </a:r>
            <a:r>
              <a:rPr lang="en-US" altLang="ko-KR" dirty="0"/>
              <a:t>GATv2</a:t>
            </a:r>
            <a:r>
              <a:rPr lang="ko-KR" altLang="en-US" dirty="0"/>
              <a:t>가 어떤 형태의 </a:t>
            </a:r>
            <a:r>
              <a:rPr lang="ko-KR" altLang="en-US" dirty="0" err="1"/>
              <a:t>어텐션</a:t>
            </a:r>
            <a:r>
              <a:rPr lang="ko-KR" altLang="en-US" dirty="0"/>
              <a:t> 패턴이든 학습할 수 있는 능력을 갖추고 있음을 의미합니다 </a:t>
            </a:r>
            <a:r>
              <a:rPr lang="en-US" altLang="ko-KR" dirty="0"/>
              <a:t>(GAT</a:t>
            </a:r>
            <a:r>
              <a:rPr lang="ko-KR" altLang="en-US" dirty="0"/>
              <a:t>는 그렇지 않습니다</a:t>
            </a:r>
            <a:r>
              <a:rPr lang="en-US" altLang="ko-KR" dirty="0"/>
              <a:t>).</a:t>
            </a:r>
          </a:p>
          <a:p>
            <a:r>
              <a:rPr lang="ko-KR" altLang="en-US" b="1" dirty="0"/>
              <a:t>실험적 성능</a:t>
            </a:r>
            <a:r>
              <a:rPr lang="en-US" altLang="ko-KR" b="1" dirty="0"/>
              <a:t>:</a:t>
            </a:r>
            <a:r>
              <a:rPr lang="ko-KR" altLang="en-US" dirty="0"/>
              <a:t> 다양한 그래프 학습 벤치마크에서 </a:t>
            </a:r>
            <a:r>
              <a:rPr lang="en-US" altLang="ko-KR" dirty="0"/>
              <a:t>GATv2</a:t>
            </a:r>
            <a:r>
              <a:rPr lang="ko-KR" altLang="en-US" dirty="0"/>
              <a:t>가 기존 </a:t>
            </a:r>
            <a:r>
              <a:rPr lang="en-US" altLang="ko-KR" dirty="0"/>
              <a:t>GAT</a:t>
            </a:r>
            <a:r>
              <a:rPr lang="ko-KR" altLang="en-US" dirty="0"/>
              <a:t>보다 더 나은 성능을 보이는 경우가 많습니다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수식적 차이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간단히</a:t>
            </a:r>
            <a:r>
              <a:rPr lang="en-US" altLang="ko-KR" dirty="0"/>
              <a:t>): GAT: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LeakyReLU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a^T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Wh_i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||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Wh_j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])</a:t>
            </a:r>
            <a:endParaRPr lang="ko-KR" altLang="en-US" dirty="0"/>
          </a:p>
          <a:p>
            <a:r>
              <a:rPr lang="en-US" altLang="ko-KR" dirty="0"/>
              <a:t>GATv2: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a^T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LeakyReLU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(W[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h_i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||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h_j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])</a:t>
            </a:r>
            <a:endParaRPr lang="ko-KR" altLang="en-US" dirty="0"/>
          </a:p>
          <a:p>
            <a:r>
              <a:rPr lang="ko-KR" altLang="en-US" dirty="0"/>
              <a:t>→ </a:t>
            </a:r>
            <a:r>
              <a:rPr lang="en-US" altLang="ko-KR" dirty="0" err="1"/>
              <a:t>LeakyReLU</a:t>
            </a:r>
            <a:r>
              <a:rPr lang="en-US" altLang="ko-KR" dirty="0"/>
              <a:t> </a:t>
            </a:r>
            <a:r>
              <a:rPr lang="ko-KR" altLang="en-US" dirty="0"/>
              <a:t>위치 차이가 표현력 차이를 만듦</a:t>
            </a:r>
          </a:p>
          <a:p>
            <a:r>
              <a:rPr lang="en-US" altLang="ko-KR" b="1" dirty="0"/>
              <a:t>GAT:</a:t>
            </a:r>
            <a:r>
              <a:rPr lang="ko-KR" altLang="en-US" dirty="0"/>
              <a:t> 마치 모든 이웃에게 </a:t>
            </a:r>
            <a:r>
              <a:rPr lang="en-US" altLang="ko-KR" dirty="0"/>
              <a:t>"</a:t>
            </a:r>
            <a:r>
              <a:rPr lang="ko-KR" altLang="en-US" dirty="0"/>
              <a:t>너는 전반적으로 얼마나 중요하니</a:t>
            </a:r>
            <a:r>
              <a:rPr lang="en-US" altLang="ko-KR" dirty="0"/>
              <a:t>?"</a:t>
            </a:r>
            <a:r>
              <a:rPr lang="ko-KR" altLang="en-US" dirty="0"/>
              <a:t>라는 고정된 질문을 던지는 것과 비슷합니다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GATv2: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나</a:t>
            </a:r>
            <a:r>
              <a:rPr lang="en-US" altLang="ko-KR" dirty="0"/>
              <a:t>(</a:t>
            </a:r>
            <a:r>
              <a:rPr lang="ko-KR" altLang="en-US" dirty="0"/>
              <a:t>노드 </a:t>
            </a:r>
            <a:r>
              <a:rPr lang="en-US" altLang="ko-KR" dirty="0" err="1"/>
              <a:t>i</a:t>
            </a:r>
            <a:r>
              <a:rPr lang="en-US" altLang="ko-KR" dirty="0"/>
              <a:t>)</a:t>
            </a:r>
            <a:r>
              <a:rPr lang="ko-KR" altLang="en-US" dirty="0"/>
              <a:t>의 현재 상태를 고려했을 때</a:t>
            </a:r>
            <a:r>
              <a:rPr lang="en-US" altLang="ko-KR" dirty="0"/>
              <a:t>, </a:t>
            </a:r>
            <a:r>
              <a:rPr lang="ko-KR" altLang="en-US" dirty="0"/>
              <a:t>너</a:t>
            </a:r>
            <a:r>
              <a:rPr lang="en-US" altLang="ko-KR" dirty="0"/>
              <a:t>(</a:t>
            </a:r>
            <a:r>
              <a:rPr lang="ko-KR" altLang="en-US" dirty="0"/>
              <a:t>노드 </a:t>
            </a:r>
            <a:r>
              <a:rPr lang="en-US" altLang="ko-KR" dirty="0"/>
              <a:t>j)</a:t>
            </a:r>
            <a:r>
              <a:rPr lang="ko-KR" altLang="en-US" dirty="0"/>
              <a:t>의 </a:t>
            </a:r>
            <a:r>
              <a:rPr lang="ko-KR" altLang="en-US" i="1" dirty="0"/>
              <a:t>이런 특정 측면</a:t>
            </a:r>
            <a:r>
              <a:rPr lang="ko-KR" altLang="en-US" dirty="0"/>
              <a:t>은 얼마나 중요하니</a:t>
            </a:r>
            <a:r>
              <a:rPr lang="en-US" altLang="ko-KR" dirty="0"/>
              <a:t>?" </a:t>
            </a:r>
            <a:r>
              <a:rPr lang="ko-KR" altLang="en-US" dirty="0"/>
              <a:t>와 같이 좀 더 상황에 맞는 질문을 던지는 것에 비유할 수 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854" y="1152525"/>
            <a:ext cx="7048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식물 분류 Graph Neural Network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70955" y="1838325"/>
            <a:ext cx="30020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Classification with GAT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21176" y="3057525"/>
            <a:ext cx="150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60202609</a:t>
            </a: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한진우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84094" y="3686175"/>
            <a:ext cx="17758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중간고사 프로젝트 발표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개요 및 데이터셋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40486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설명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31590"/>
            <a:ext cx="39639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식물 간 관계를 이용한 식물 종류 분류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1" y="1956495"/>
            <a:ext cx="3886200" cy="95250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marL="128588" indent="-128588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 각 식물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식물 간 관계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카테고리 예측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0600" y="739229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특성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1204020"/>
            <a:ext cx="3886200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19650" y="1204020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67300" y="1356420"/>
            <a:ext cx="34587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67300" y="1737420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NODES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2432745"/>
            <a:ext cx="3886200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9650" y="2432745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67300" y="2585145"/>
            <a:ext cx="34587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1,004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067300" y="2966145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EDGES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661470"/>
            <a:ext cx="3886200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19650" y="3661470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67300" y="3813870"/>
            <a:ext cx="34587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67300" y="4194870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852095"/>
            <a:ext cx="3963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flowers, fruits, herbs, vegetables</a:t>
            </a:r>
            <a:endParaRPr lang="en-US" sz="105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A8E974A-1E4E-911D-8E75-C70D92ABA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106667"/>
            <a:ext cx="4324351" cy="16558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구조 및 핵심 기술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20341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GAT with GATv2Conv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5131"/>
            <a:ext cx="8229600" cy="98286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GATv2Conv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multi-head attention (4 heads)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기울기 소실 방지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Jumping Knowledge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다층 정보 통합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382292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최적화 기법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47082"/>
            <a:ext cx="8229600" cy="98286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 Optimizer with Weight Decay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ReduceLROnPlateau Scheduler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(patience=15)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807098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선택 이유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51858"/>
            <a:ext cx="83941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식물 분류에 있어 식물 간의 상호작용</a:t>
            </a:r>
            <a:r>
              <a:rPr lang="en-US" altLang="ko-KR" dirty="0"/>
              <a:t>(`helps`, `avoid` </a:t>
            </a:r>
            <a:r>
              <a:rPr lang="ko-KR" altLang="en-US" dirty="0"/>
              <a:t>등 관계 정보</a:t>
            </a:r>
            <a:r>
              <a:rPr lang="en-US" altLang="ko-KR" dirty="0"/>
              <a:t>)</a:t>
            </a:r>
            <a:r>
              <a:rPr lang="ko-KR" altLang="en-US" dirty="0"/>
              <a:t>이 핵심 특징으로 작용할 것으로 판단했습니다</a:t>
            </a:r>
            <a:r>
              <a:rPr lang="en-US" altLang="ko-KR" dirty="0"/>
              <a:t>. </a:t>
            </a:r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노드 간 관계의 중요도를 동적으로 학습할 수 있는 </a:t>
            </a:r>
            <a:r>
              <a:rPr lang="ko-KR" altLang="en-US" b="1" dirty="0" err="1"/>
              <a:t>어텐션</a:t>
            </a:r>
            <a:r>
              <a:rPr lang="en-US" altLang="ko-KR" b="1" dirty="0"/>
              <a:t>(Attention) </a:t>
            </a:r>
            <a:r>
              <a:rPr lang="ko-KR" altLang="en-US" b="1" dirty="0"/>
              <a:t>메커니즘</a:t>
            </a:r>
            <a:r>
              <a:rPr lang="ko-KR" altLang="en-US" dirty="0"/>
              <a:t> 기반의 </a:t>
            </a:r>
            <a:r>
              <a:rPr lang="en-US" altLang="ko-KR" dirty="0"/>
              <a:t>GNN </a:t>
            </a:r>
            <a:r>
              <a:rPr lang="ko-KR" altLang="en-US" dirty="0"/>
              <a:t>모델이 가장 적합</a:t>
            </a:r>
            <a:endParaRPr lang="en-US" altLang="ko-KR" dirty="0"/>
          </a:p>
          <a:p>
            <a:br>
              <a:rPr lang="en-US" altLang="ko-KR" dirty="0"/>
            </a:b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8383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GATv2Conv를 선택했는가?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38349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GAT의 한계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03139"/>
            <a:ext cx="3886200" cy="124956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Attention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모든 레이어에서 동일한 어텐션 순위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표현력 제한: 복잡한 관계 학습 어려움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깊은 네트워크에서 성능 저하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933700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GATv2의 개선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398490"/>
            <a:ext cx="3886200" cy="124956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Attention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각 레이어마다 독립적 학습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비선형 상호작용: 더 복잡한 패턴 포착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2-5% 성능 향상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00600" y="901154"/>
            <a:ext cx="39639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데이터에 적합한 이유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1365945"/>
            <a:ext cx="3886200" cy="1038225"/>
          </a:xfrm>
          <a:prstGeom prst="roundRect">
            <a:avLst>
              <a:gd name="adj" fmla="val 7339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19650" y="1365945"/>
            <a:ext cx="0" cy="103822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67300" y="151834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엣지 타입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67300" y="1823145"/>
            <a:ext cx="345871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helps, helped_by, avoid - 각 관계의 중요도를 동적으로 학습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800600" y="2670870"/>
            <a:ext cx="3886200" cy="823913"/>
          </a:xfrm>
          <a:prstGeom prst="roundRect">
            <a:avLst>
              <a:gd name="adj" fmla="val 9249"/>
            </a:avLst>
          </a:prstGeom>
          <a:solidFill>
            <a:srgbClr val="FEF5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19650" y="2670870"/>
            <a:ext cx="0" cy="82391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67300" y="2823270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적은 데이터 (213 nodes)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7300" y="3128070"/>
            <a:ext cx="345871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표현력 있는 모델로 제한된 데이터에서 최대한 학습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800600" y="3761482"/>
            <a:ext cx="3886200" cy="823913"/>
          </a:xfrm>
          <a:prstGeom prst="roundRect">
            <a:avLst>
              <a:gd name="adj" fmla="val 9249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9650" y="3761482"/>
            <a:ext cx="0" cy="823913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67300" y="3913882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관계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67300" y="4218682"/>
            <a:ext cx="345871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레이어로 식물 간 간접 관계까지 학습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결과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32756" y="576174"/>
            <a:ext cx="226507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성능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31205"/>
            <a:ext cx="2220664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831205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23900" y="983605"/>
            <a:ext cx="17598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" y="1364605"/>
            <a:ext cx="1759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37011"/>
            <a:ext cx="2220664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2037011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3900" y="2189411"/>
            <a:ext cx="17598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23900" y="2570411"/>
            <a:ext cx="1759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ACCURACY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42816"/>
            <a:ext cx="2220664" cy="1000125"/>
          </a:xfrm>
          <a:prstGeom prst="roundRect">
            <a:avLst>
              <a:gd name="adj" fmla="val 76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6250" y="3242816"/>
            <a:ext cx="0" cy="100012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23900" y="3395216"/>
            <a:ext cx="17598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23900" y="3776216"/>
            <a:ext cx="1759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35064" y="200323"/>
            <a:ext cx="56627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 Graph</a:t>
            </a:r>
            <a:endParaRPr lang="en-US" sz="18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8DDEC5F-0449-38D0-5E58-F0BF3B97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534" y="1101266"/>
            <a:ext cx="5491034" cy="36743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파일 예측 결과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53430"/>
            <a:ext cx="226507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수행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18221"/>
            <a:ext cx="22650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데이터셋의 각 식물에 대해 카테고리를 예측하여 출력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423071"/>
            <a:ext cx="2220664" cy="609600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marL="128588" indent="-128588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test 노드 예측 완료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Encoder로 변환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261271"/>
            <a:ext cx="2220664" cy="1123950"/>
          </a:xfrm>
          <a:prstGeom prst="roundRect">
            <a:avLst>
              <a:gd name="adj" fmla="val 678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413671"/>
            <a:ext cx="1954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형식: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718471"/>
            <a:ext cx="195418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 → predicted_class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66449" y="762000"/>
            <a:ext cx="16775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출력 화면</a:t>
            </a:r>
            <a:endParaRPr lang="en-US" sz="18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E768933-2375-32DB-4B86-F55AF5841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141" y="1473007"/>
            <a:ext cx="4206813" cy="29084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배운점 및 느낀점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20341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5131"/>
            <a:ext cx="8229600" cy="98286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 vs GATv2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최신 논문에서 GATv2Conv 사용을 권장하는 것을 알게 됨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Connection의 중요성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기울기 소실 문제를 효과적으로 방지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Jumping Knowledge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다층 GNN 정보를 효과적으로 통합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382292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한계점 및 개선 방향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47082"/>
            <a:ext cx="8229600" cy="982861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부족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213개 노드로 학습 → 예측 성능의 신뢰성 의문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100%, Test 83.3% → 과적합 가능성</a:t>
            </a:r>
            <a:endParaRPr lang="en-US" sz="1350" dirty="0"/>
          </a:p>
          <a:p>
            <a:pPr marL="128588" indent="-128588" algn="l">
              <a:lnSpc>
                <a:spcPts val="2100"/>
              </a:lnSpc>
              <a:spcAft>
                <a:spcPts val="420"/>
              </a:spcAft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많은 데이터 확보 시 성능 향상 가능성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944243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앞으로의 과제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09033"/>
            <a:ext cx="83941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분야는 계속 연구 중이며 많은 공부와 통찰력이 </a:t>
            </a:r>
            <a:r>
              <a:rPr lang="en-US" sz="1350" dirty="0" err="1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필요함</a:t>
            </a: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ts val="2025"/>
              </a:lnSpc>
              <a:buNone/>
            </a:pPr>
            <a:r>
              <a:rPr lang="ko-KR" altLang="en-US" sz="1350" dirty="0"/>
              <a:t>더 큰 데이터셋에서의 검증</a:t>
            </a:r>
            <a:r>
              <a:rPr lang="en-US" altLang="ko-KR" sz="1350" dirty="0"/>
              <a:t>, </a:t>
            </a:r>
            <a:r>
              <a:rPr lang="ko-KR" altLang="en-US" sz="1350" dirty="0"/>
              <a:t>데이터 증강 기법 적용</a:t>
            </a:r>
            <a:r>
              <a:rPr lang="en-US" altLang="ko-KR" sz="1350" dirty="0"/>
              <a:t>, </a:t>
            </a:r>
            <a:r>
              <a:rPr lang="ko-KR" altLang="en-US" sz="1350" dirty="0" err="1"/>
              <a:t>하이퍼파라미터</a:t>
            </a:r>
            <a:r>
              <a:rPr lang="ko-KR" altLang="en-US" sz="1350" dirty="0"/>
              <a:t> 최적화 등을 통해 모델의 견고성을 높일 필요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601</Words>
  <Application>Microsoft Office PowerPoint</Application>
  <PresentationFormat>화면 슬라이드 쇼(16:9)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식물 분류 GNN 프로젝트</dc:title>
  <dc:subject>PptxGenJS Presentation</dc:subject>
  <dc:creator>한진우</dc:creator>
  <cp:lastModifiedBy>한진우</cp:lastModifiedBy>
  <cp:revision>4</cp:revision>
  <dcterms:created xsi:type="dcterms:W3CDTF">2025-10-22T05:32:54Z</dcterms:created>
  <dcterms:modified xsi:type="dcterms:W3CDTF">2025-10-22T08:25:11Z</dcterms:modified>
</cp:coreProperties>
</file>