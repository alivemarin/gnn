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14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9605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 GNN 기반 Knowledge Graph 링크 예측 프로젝트를 발표하겠습니다. R-GCN과 MLP Decoder를 활용하여 0.9677의 AUC-ROC를 달성했습니다.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데이터셋을 분석한 결과입니다. 총 16,362개의 노드와 5가지 관계 타입을 가진 이질적 그래프입니다. 노드는 Author, Paper, Affiliation, Domain, Venue의 5가지 타입으로 구분됩니다.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데이터셋의 주요 특징은 이질적 그래프 구조와 방향성을 가진 관계입니다. 문제점으로는 노드 초기 피처의 부재와 관계의 복잡성이 있었습니다. 이를 해결하기 위해 NetworkX로 위상 피처를 추출하고 도메인 지식을 활용했습니다.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총 14개의 피처를 생성했습니다. NetworkX로 9개의 위상 피처를 추출하고, 관계 패턴 분석을 통해 5개의 노드 타입 피처를 원-핫 인코딩으로 추가했습니다. 이것이 핵심 개선사항입니다.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구조는 R-GCN Encoder와 MLP Decoder로 구성됩니다. R-GCN은 14차원 입력을 128차원으로 인코딩하고, MLP Decoder는 Head, Relation, Tail 임베딩 384차원을 입력받아 링크 스코어를 출력합니다.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Dot Product 방식은 대칭성 문제와 관계 타입을 무시하는 문제가 있었습니다. 우리 모델의 MLP Decoder는 관계 임베딩을 명시적으로 사용하여 방향성과 관계의 의미를 모두 학습합니다.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정확도 향상을 위해 세 가지 전략을 사용했습니다. 피처 엔지니어링, MLP Decoder로의 모델 개선, 그리고 하이퍼파라미터 튜닝입니다. 임베딩 차원을 128로 늘리고 에포크를 300으로 증가시켰습니다.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최종 Test AUC-ROC는 0.9677로 목표인 0.9점을 달성했습니다. 핵심 성공 요인은 데이터 분석 우선 접근, 적절한 모델 선택, 그리고 세심한 튜닝이었습니다.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EFD31-CBC3-85DE-81ED-656D0F725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168BFE-668D-6373-CBAD-82529CFE0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4BDD72-EC51-212D-D76B-1EF32CC32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최종 Test AUC-ROC는 0.9677로 목표인 0.9점을 달성했습니다. 핵심 성공 요인은 데이터 분석 우선 접근, 적절한 모델 선택, 그리고 세심한 튜닝이었습니다. 감사합니다.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748F9-A7E1-6CBF-277B-0C8F36326D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95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23346" y="423863"/>
            <a:ext cx="589730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spcAft>
                <a:spcPts val="1500"/>
              </a:spcAft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 기반 Knowledge Graph 링크 예측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707990" y="2652713"/>
            <a:ext cx="37280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2250"/>
              </a:spcBef>
              <a:spcAft>
                <a:spcPts val="300"/>
              </a:spcAft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R-GCN + MLP Decoder 모델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758389" y="3624263"/>
            <a:ext cx="36272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225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그래프신경망과 빅데이터 프로젝트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546105" y="4414838"/>
            <a:ext cx="2051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1125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AUC-ROC: 0.9677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1038225"/>
            <a:ext cx="853440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04800" y="466725"/>
            <a:ext cx="4362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데이터셋 분석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04800" y="1514475"/>
            <a:ext cx="21082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규모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04800" y="2009775"/>
            <a:ext cx="411480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16,362개 노드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Train: 48,213개 엣지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Valid: 3,670개 엣지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3,724개 엣지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24400" y="1362075"/>
            <a:ext cx="22734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관계 타입 (5가지)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724400" y="1857375"/>
            <a:ext cx="411480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author_in_affiliation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author_write_paper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paper_cite_paper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paper_in_domain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paper_in_venue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4800" y="3838575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 타입 (5가지)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304800" y="4371975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· Paper · Affiliation · Domain · Venue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00" y="1181100"/>
            <a:ext cx="853440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04800" y="609600"/>
            <a:ext cx="5052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데이터셋 특징 및 문제점</a:t>
            </a:r>
            <a:endParaRPr lang="en-US" sz="3600" dirty="0"/>
          </a:p>
        </p:txBody>
      </p:sp>
      <p:pic>
        <p:nvPicPr>
          <p:cNvPr id="4" name="Image 0" descr="/tmp/rasterized-gradient-45b108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504950"/>
            <a:ext cx="4114800" cy="1885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57350"/>
            <a:ext cx="19528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750"/>
              </a:spcAft>
              <a:buNone/>
            </a:pPr>
            <a:r>
              <a:rPr lang="en-US" sz="22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특징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457200" y="2095500"/>
            <a:ext cx="3810000" cy="11430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이질적 그래프: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여러 노드 타입과 관계 타입이 혼재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방향성: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관계가 비대칭적 (A→B ≠ B→A)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의미론적 정보: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관계 타입이 중요한 의미를 가짐</a:t>
            </a:r>
            <a:endParaRPr lang="en-US" sz="1350" dirty="0"/>
          </a:p>
        </p:txBody>
      </p:sp>
      <p:pic>
        <p:nvPicPr>
          <p:cNvPr id="7" name="Image 1" descr="/tmp/rasterized-gradient-5f8f34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1638300"/>
            <a:ext cx="4114800" cy="1619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76800" y="1790700"/>
            <a:ext cx="19528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750"/>
              </a:spcAft>
              <a:buNone/>
            </a:pPr>
            <a:r>
              <a:rPr lang="en-US" sz="22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문제점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4876800" y="2228850"/>
            <a:ext cx="381000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 초기 피처 부재: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노드의 속성 정보가 없음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관계의 복잡성: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5가지 다른 관계 타입 처리 필요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중심성 차이: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노드별 degree 및 중요도 편차 큼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04800" y="3886200"/>
            <a:ext cx="8534400" cy="647700"/>
          </a:xfrm>
          <a:prstGeom prst="roundRect">
            <a:avLst>
              <a:gd name="adj" fmla="val 9412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57200" y="407670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해결 전략:</a:t>
            </a: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NetworkX를 활용한 위상 피처 추출 + 도메인 지식 기반 노드 타입 피처 생성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962025"/>
            <a:ext cx="868680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28600" y="485775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피처 엔지니어링: 14개 피처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" y="1400175"/>
            <a:ext cx="4267200" cy="2495550"/>
          </a:xfrm>
          <a:prstGeom prst="roundRect">
            <a:avLst>
              <a:gd name="adj" fmla="val 244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8600" y="1400175"/>
            <a:ext cx="21859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위상 피처 (9개)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1800225"/>
            <a:ext cx="4352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NetworkX로 그래프 구조 분석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2105025"/>
            <a:ext cx="4267200" cy="17907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/ In-Degree / Out-Degree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PageRank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Betweenness Centrality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Closeness Centrality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Coefficient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HITS (Hubs / Authorities)</a:t>
            </a:r>
            <a:endParaRPr lang="en-US" sz="1350" dirty="0"/>
          </a:p>
        </p:txBody>
      </p:sp>
      <p:pic>
        <p:nvPicPr>
          <p:cNvPr id="8" name="Image 0" descr="/tmp/rasterized-gradient-ffa390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228725"/>
            <a:ext cx="4267200" cy="28384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48200" y="1228725"/>
            <a:ext cx="21859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도메인 피처 (5개)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648200" y="1628775"/>
            <a:ext cx="4352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개선사항!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648200" y="1933575"/>
            <a:ext cx="4352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관계 패턴 분석으로 노드 타입 식별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48200" y="2238375"/>
            <a:ext cx="4267200" cy="1485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(저자)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(논문)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Affiliation (소속)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(분야)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(학회/저널)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648200" y="3800475"/>
            <a:ext cx="4352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One-Hot Encoding으로 표현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28600" y="4314825"/>
            <a:ext cx="8686800" cy="342900"/>
          </a:xfrm>
          <a:prstGeom prst="roundRect">
            <a:avLst>
              <a:gd name="adj" fmla="val 1777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41732" y="4352925"/>
            <a:ext cx="8860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14개 피처 = 위상 9개 + 도메인 5개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143000"/>
            <a:ext cx="868680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28600" y="66675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채택한 모델 구조</a:t>
            </a:r>
            <a:endParaRPr lang="en-US" sz="2700" dirty="0"/>
          </a:p>
        </p:txBody>
      </p:sp>
      <p:pic>
        <p:nvPicPr>
          <p:cNvPr id="4" name="Image 0" descr="/tmp/rasterized-gradient-9af329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52575"/>
            <a:ext cx="4267200" cy="2095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9206" y="1552575"/>
            <a:ext cx="21859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R-GCN Encoder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85928" y="1971675"/>
            <a:ext cx="4352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dim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85928" y="2314575"/>
            <a:ext cx="4352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Conv1 (R-GCN)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5928" y="2657475"/>
            <a:ext cx="4352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dim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85928" y="3000375"/>
            <a:ext cx="4352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Conv2 (R-GCN)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85928" y="3343275"/>
            <a:ext cx="4352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dim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28600" y="3724275"/>
            <a:ext cx="4267200" cy="609600"/>
          </a:xfrm>
          <a:prstGeom prst="roundRect">
            <a:avLst>
              <a:gd name="adj" fmla="val 1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269206" y="3724275"/>
            <a:ext cx="21859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 Embedder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85928" y="4029075"/>
            <a:ext cx="4352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relations → 128 dim</a:t>
            </a:r>
            <a:endParaRPr lang="en-US" sz="1350" dirty="0"/>
          </a:p>
        </p:txBody>
      </p:sp>
      <p:pic>
        <p:nvPicPr>
          <p:cNvPr id="14" name="Image 1" descr="/tmp/rasterized-gradient-62a356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409700"/>
            <a:ext cx="4267200" cy="30670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48200" y="1409700"/>
            <a:ext cx="21859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Decoder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48200" y="1809750"/>
            <a:ext cx="4352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혁신!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관계의 의미와 방향성을 학습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648200" y="2152650"/>
            <a:ext cx="42672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입력: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[Head 128 + Relation 128 + Tail 128]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384차원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MLP 처리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384 → 128 (ReLU + Dropout)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128 → 1 (링크 스코어)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648200" y="3448050"/>
            <a:ext cx="4267200" cy="1028700"/>
          </a:xfrm>
          <a:prstGeom prst="roundRect">
            <a:avLst>
              <a:gd name="adj" fmla="val 463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724400" y="3562350"/>
            <a:ext cx="4197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장점: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724400" y="3829050"/>
            <a:ext cx="4114800" cy="5715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(A→B)와 (B→A) 구별 가능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관계 타입별 고유 패턴 학습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33500"/>
            <a:ext cx="868680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28600" y="85725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 모델이 적합한가?</a:t>
            </a:r>
            <a:endParaRPr lang="en-US" sz="2700" dirty="0"/>
          </a:p>
        </p:txBody>
      </p:sp>
      <p:pic>
        <p:nvPicPr>
          <p:cNvPr id="4" name="Image 0" descr="/tmp/rasterized-gradient-b866b6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00200"/>
            <a:ext cx="4267200" cy="2171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599" y="1600200"/>
            <a:ext cx="2924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750"/>
              </a:spcAft>
              <a:buNone/>
            </a:pPr>
            <a:r>
              <a:rPr lang="ko-KR" altLang="en-US" b="1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합병</a:t>
            </a: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방식의 문제점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28600" y="2000250"/>
            <a:ext cx="4352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Product Decoder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28600" y="2343150"/>
            <a:ext cx="4267200" cy="457200"/>
          </a:xfrm>
          <a:prstGeom prst="roundRect">
            <a:avLst>
              <a:gd name="adj" fmla="val 104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04800" y="2457450"/>
            <a:ext cx="4197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head · tail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28600" y="2895600"/>
            <a:ext cx="42672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1: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(A→B) = (B→A) (대칭성)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2: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관계 타입을 무시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3: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'cite'와 'write' 구별 불가</a:t>
            </a:r>
            <a:endParaRPr lang="en-US" sz="1350" dirty="0"/>
          </a:p>
        </p:txBody>
      </p:sp>
      <p:pic>
        <p:nvPicPr>
          <p:cNvPr id="10" name="Image 1" descr="/tmp/rasterized-gradient-414915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600200"/>
            <a:ext cx="4267200" cy="21717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8200" y="1600200"/>
            <a:ext cx="21859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모델의 해결책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648200" y="2000250"/>
            <a:ext cx="4352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Decoder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48200" y="2343150"/>
            <a:ext cx="4267200" cy="457200"/>
          </a:xfrm>
          <a:prstGeom prst="roundRect">
            <a:avLst>
              <a:gd name="adj" fmla="val 104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724400" y="2457450"/>
            <a:ext cx="4197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MLP([head, rel, tail])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48200" y="2895600"/>
            <a:ext cx="42672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(A→B) ≠ (B→A) 구별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관계 임베딩 명시적 사용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각 관계의 고유 패턴 학습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28600" y="3943350"/>
            <a:ext cx="8686800" cy="342900"/>
          </a:xfrm>
          <a:prstGeom prst="roundRect">
            <a:avLst>
              <a:gd name="adj" fmla="val 17778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141732" y="3981450"/>
            <a:ext cx="8860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R-GCN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 여러 관계 타입을 처리하고, 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Decoder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는 관계의 의미를 학습합니다!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5375"/>
            <a:ext cx="868680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28600" y="600075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정확도 향상 기법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28600" y="1447800"/>
            <a:ext cx="4191000" cy="1581150"/>
          </a:xfrm>
          <a:prstGeom prst="roundRect">
            <a:avLst>
              <a:gd name="adj" fmla="val 385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8600" y="1447800"/>
            <a:ext cx="21471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피처 엔지니어링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1847850"/>
            <a:ext cx="41910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NetworkX 활용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9개 위상 피처 추출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지식 기반 5개 타입 피처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MinMax 정규화로 0~1 스케일링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28600" y="3181350"/>
            <a:ext cx="4191000" cy="1276350"/>
          </a:xfrm>
          <a:prstGeom prst="roundRect">
            <a:avLst>
              <a:gd name="adj" fmla="val 4776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8600" y="3181350"/>
            <a:ext cx="21471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모델 개선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" y="3581400"/>
            <a:ext cx="41910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Product → </a:t>
            </a: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Decoder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관계 임베딩 추가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비대칭성 문제 해결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24400" y="1362075"/>
            <a:ext cx="4191000" cy="1581150"/>
          </a:xfrm>
          <a:prstGeom prst="roundRect">
            <a:avLst>
              <a:gd name="adj" fmla="val 385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24400" y="1362075"/>
            <a:ext cx="2428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하이퍼파라미터 튜닝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24400" y="1762125"/>
            <a:ext cx="41910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EMBED_DIM: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64 → 128 (표현력 ↑)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200 → 300 (충분한 학습)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0.01 → 0.005 (세밀한 학습)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DROPOUT:</a:t>
            </a: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0.3 (과적합 방지)</a:t>
            </a:r>
            <a:endParaRPr lang="en-US" sz="1350" dirty="0"/>
          </a:p>
        </p:txBody>
      </p:sp>
      <p:pic>
        <p:nvPicPr>
          <p:cNvPr id="13" name="Image 0" descr="/tmp/rasterized-gradient-b305fc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3095625"/>
            <a:ext cx="4191000" cy="14478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724400" y="3095625"/>
            <a:ext cx="21471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682490" y="3590925"/>
            <a:ext cx="4274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 → 0.96+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4682490" y="4238625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20% 성능 향상!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0" y="571500"/>
            <a:ext cx="46731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결과</a:t>
            </a:r>
            <a:endParaRPr lang="en-US" sz="2700" dirty="0"/>
          </a:p>
        </p:txBody>
      </p:sp>
      <p:pic>
        <p:nvPicPr>
          <p:cNvPr id="4" name="Image 0" descr="/tmp/rasterized-gradient-2f4bde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4925"/>
            <a:ext cx="4495800" cy="17716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4337" y="1457325"/>
            <a:ext cx="21471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AUC-ROC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0490" y="1905000"/>
            <a:ext cx="42748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0.9677</a:t>
            </a:r>
            <a:endParaRPr lang="en-US" sz="4500" dirty="0"/>
          </a:p>
        </p:txBody>
      </p:sp>
      <p:sp>
        <p:nvSpPr>
          <p:cNvPr id="7" name="Text 4"/>
          <p:cNvSpPr/>
          <p:nvPr/>
        </p:nvSpPr>
        <p:spPr>
          <a:xfrm>
            <a:off x="110490" y="2619375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0.9점 달성!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0" y="3152775"/>
            <a:ext cx="4495800" cy="704850"/>
          </a:xfrm>
          <a:prstGeom prst="roundRect">
            <a:avLst>
              <a:gd name="adj" fmla="val 8649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096613" y="3152775"/>
            <a:ext cx="23025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Valid AUC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-44958" y="3476625"/>
            <a:ext cx="45857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0.9854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0" y="3933825"/>
            <a:ext cx="4495800" cy="533400"/>
          </a:xfrm>
          <a:prstGeom prst="roundRect">
            <a:avLst>
              <a:gd name="adj" fmla="val 11429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-44958" y="3971925"/>
            <a:ext cx="4585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R-GCN + MLP Decoder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-44958" y="4238625"/>
            <a:ext cx="45857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14개 피처 · 300 에포크</a:t>
            </a:r>
            <a:endParaRPr lang="en-US" sz="1050" dirty="0"/>
          </a:p>
        </p:txBody>
      </p:sp>
      <p:pic>
        <p:nvPicPr>
          <p:cNvPr id="15" name="Image 1" descr="/home/claude/loss_grap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200150"/>
            <a:ext cx="4495800" cy="3371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3D89D4-79D8-5110-9E4C-1787D0FEC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27ECCB-D1C2-790E-BB09-D47C47B69F29}"/>
              </a:ext>
            </a:extLst>
          </p:cNvPr>
          <p:cNvSpPr/>
          <p:nvPr/>
        </p:nvSpPr>
        <p:spPr>
          <a:xfrm>
            <a:off x="0" y="1028700"/>
            <a:ext cx="9144000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4DCBA1-623B-E237-D868-214D48514276}"/>
              </a:ext>
            </a:extLst>
          </p:cNvPr>
          <p:cNvSpPr/>
          <p:nvPr/>
        </p:nvSpPr>
        <p:spPr>
          <a:xfrm>
            <a:off x="0" y="571500"/>
            <a:ext cx="46731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결과</a:t>
            </a:r>
            <a:endParaRPr lang="en-US" sz="2700" dirty="0"/>
          </a:p>
        </p:txBody>
      </p:sp>
      <p:pic>
        <p:nvPicPr>
          <p:cNvPr id="4" name="Image 0" descr="/tmp/rasterized-gradient-2f4bde34.png">
            <a:extLst>
              <a:ext uri="{FF2B5EF4-FFF2-40B4-BE49-F238E27FC236}">
                <a16:creationId xmlns:a16="http://schemas.microsoft.com/office/drawing/2014/main" id="{7801FCB9-08BC-D346-C2EA-B5125115A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4925"/>
            <a:ext cx="4495800" cy="177165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43E24187-3411-9934-F345-59790A311E4A}"/>
              </a:ext>
            </a:extLst>
          </p:cNvPr>
          <p:cNvSpPr/>
          <p:nvPr/>
        </p:nvSpPr>
        <p:spPr>
          <a:xfrm>
            <a:off x="1174337" y="1457325"/>
            <a:ext cx="21471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AUC-ROC</a:t>
            </a:r>
            <a:endParaRPr lang="en-US" sz="1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412FEE3-58B3-59B5-0B06-B047C582AF19}"/>
              </a:ext>
            </a:extLst>
          </p:cNvPr>
          <p:cNvSpPr/>
          <p:nvPr/>
        </p:nvSpPr>
        <p:spPr>
          <a:xfrm>
            <a:off x="110490" y="1905000"/>
            <a:ext cx="42748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0.9675</a:t>
            </a:r>
            <a:endParaRPr lang="en-US" sz="45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5641A11-E3F1-87C2-9150-76FA27E32A14}"/>
              </a:ext>
            </a:extLst>
          </p:cNvPr>
          <p:cNvSpPr/>
          <p:nvPr/>
        </p:nvSpPr>
        <p:spPr>
          <a:xfrm>
            <a:off x="110490" y="2619375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0.9점 달성!</a:t>
            </a:r>
            <a:endParaRPr lang="en-US" sz="15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216B791-3A68-B464-BE1F-BACF28DF4F3B}"/>
              </a:ext>
            </a:extLst>
          </p:cNvPr>
          <p:cNvSpPr/>
          <p:nvPr/>
        </p:nvSpPr>
        <p:spPr>
          <a:xfrm>
            <a:off x="0" y="3152775"/>
            <a:ext cx="4495800" cy="704850"/>
          </a:xfrm>
          <a:prstGeom prst="roundRect">
            <a:avLst>
              <a:gd name="adj" fmla="val 8649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2B240B6-5139-81A0-5F82-C2DB0D8B83A1}"/>
              </a:ext>
            </a:extLst>
          </p:cNvPr>
          <p:cNvSpPr/>
          <p:nvPr/>
        </p:nvSpPr>
        <p:spPr>
          <a:xfrm>
            <a:off x="1096613" y="3152775"/>
            <a:ext cx="23025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Valid AUC</a:t>
            </a:r>
            <a:endParaRPr lang="en-US" sz="15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F76BD9E-5DCE-8FCF-518C-99A5EA8305F6}"/>
              </a:ext>
            </a:extLst>
          </p:cNvPr>
          <p:cNvSpPr/>
          <p:nvPr/>
        </p:nvSpPr>
        <p:spPr>
          <a:xfrm>
            <a:off x="-44958" y="3476625"/>
            <a:ext cx="45857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0.9854</a:t>
            </a:r>
            <a:endParaRPr lang="en-US" sz="22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8025192-519D-A54B-D8DB-37C186855700}"/>
              </a:ext>
            </a:extLst>
          </p:cNvPr>
          <p:cNvSpPr/>
          <p:nvPr/>
        </p:nvSpPr>
        <p:spPr>
          <a:xfrm>
            <a:off x="0" y="3933825"/>
            <a:ext cx="4495800" cy="533400"/>
          </a:xfrm>
          <a:prstGeom prst="roundRect">
            <a:avLst>
              <a:gd name="adj" fmla="val 11429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51EEAC4-6E34-B059-34AE-D59F5C8F31AE}"/>
              </a:ext>
            </a:extLst>
          </p:cNvPr>
          <p:cNvSpPr/>
          <p:nvPr/>
        </p:nvSpPr>
        <p:spPr>
          <a:xfrm>
            <a:off x="-44958" y="3971925"/>
            <a:ext cx="4585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R-GCN + MLP Decoder</a:t>
            </a:r>
            <a:endParaRPr lang="en-US" sz="1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E741580-C216-0F9E-8488-9A029FEBEA95}"/>
              </a:ext>
            </a:extLst>
          </p:cNvPr>
          <p:cNvSpPr/>
          <p:nvPr/>
        </p:nvSpPr>
        <p:spPr>
          <a:xfrm>
            <a:off x="-44958" y="4238625"/>
            <a:ext cx="45857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14개 피처 · 300 에포크</a:t>
            </a:r>
            <a:endParaRPr lang="en-US" sz="105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E3FC020-1AE6-7BF3-1099-072682E7BD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061" y="1104901"/>
            <a:ext cx="4895939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969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880</Words>
  <Application>Microsoft Office PowerPoint</Application>
  <PresentationFormat>화면 슬라이드 쇼(16:9)</PresentationFormat>
  <Paragraphs>131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Graph 링크 예측</dc:title>
  <dc:subject>PptxGenJS Presentation</dc:subject>
  <dc:creator>GNN 프로젝트</dc:creator>
  <cp:lastModifiedBy>한진우</cp:lastModifiedBy>
  <cp:revision>3</cp:revision>
  <dcterms:created xsi:type="dcterms:W3CDTF">2025-10-29T04:34:42Z</dcterms:created>
  <dcterms:modified xsi:type="dcterms:W3CDTF">2025-11-03T07:14:34Z</dcterms:modified>
</cp:coreProperties>
</file>